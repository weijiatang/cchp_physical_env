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58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16" Type="http://schemas.openxmlformats.org/officeDocument/2006/relationships/image" Target="../media/image1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74" Type="http://schemas.openxmlformats.org/officeDocument/2006/relationships/image" Target="../media/image72.png"/><Relationship Id="rId79" Type="http://schemas.openxmlformats.org/officeDocument/2006/relationships/image" Target="../media/image77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77" Type="http://schemas.openxmlformats.org/officeDocument/2006/relationships/image" Target="../media/image75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80" Type="http://schemas.openxmlformats.org/officeDocument/2006/relationships/image" Target="../media/image78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" y="17374"/>
            <a:ext cx="12200839" cy="529803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946"/>
            <a:ext cx="12191695" cy="52898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5" y="470002"/>
            <a:ext cx="43891" cy="3566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" y="807415"/>
            <a:ext cx="5201107" cy="5577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886" y="480974"/>
            <a:ext cx="43891" cy="2651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886" y="807415"/>
            <a:ext cx="5280660" cy="55778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226" y="844906"/>
            <a:ext cx="53035" cy="438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7590" y="843991"/>
            <a:ext cx="53035" cy="6217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099" y="3151937"/>
            <a:ext cx="43891" cy="2651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045" y="3497580"/>
            <a:ext cx="921715" cy="53126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7729" y="4006901"/>
            <a:ext cx="2153412" cy="1737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1938" y="4008730"/>
            <a:ext cx="2153412" cy="1737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23921" y="3503066"/>
            <a:ext cx="17374" cy="52303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57577" y="3498494"/>
            <a:ext cx="17374" cy="53126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2728" y="3498494"/>
            <a:ext cx="17374" cy="53126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47718" y="3502152"/>
            <a:ext cx="17374" cy="52303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20110" y="3503066"/>
            <a:ext cx="17374" cy="52303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61388" y="3498494"/>
            <a:ext cx="17374" cy="523037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86814" y="3497580"/>
            <a:ext cx="17374" cy="531266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35347" y="3500323"/>
            <a:ext cx="17374" cy="52303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01968" y="3160166"/>
            <a:ext cx="43891" cy="26518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25742" y="3498494"/>
            <a:ext cx="1018642" cy="531266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3353" y="4005986"/>
            <a:ext cx="2153412" cy="17374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58477" y="4005986"/>
            <a:ext cx="2153412" cy="1737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973714" y="4031590"/>
            <a:ext cx="26518" cy="17374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52990" y="4031590"/>
            <a:ext cx="26518" cy="17374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92286" y="4029761"/>
            <a:ext cx="26518" cy="17374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13294" y="4030675"/>
            <a:ext cx="26518" cy="17374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05626" y="4029761"/>
            <a:ext cx="35662" cy="17374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87000" y="3498494"/>
            <a:ext cx="17374" cy="531266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58477" y="3498494"/>
            <a:ext cx="17374" cy="523037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619342" y="4033418"/>
            <a:ext cx="26518" cy="26518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973714" y="3498494"/>
            <a:ext cx="17374" cy="53126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095183" y="3499409"/>
            <a:ext cx="17374" cy="531266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23353" y="3497580"/>
            <a:ext cx="17374" cy="531266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65031" y="3498494"/>
            <a:ext cx="17374" cy="531266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695030" y="3503981"/>
            <a:ext cx="17374" cy="523037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390181" y="3498494"/>
            <a:ext cx="17374" cy="531266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18504" y="3529584"/>
            <a:ext cx="53035" cy="62179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68757" y="394106"/>
            <a:ext cx="11518697" cy="159106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68757" y="474574"/>
            <a:ext cx="5395874" cy="983894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38544" y="485546"/>
            <a:ext cx="5475427" cy="965606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54496" y="536753"/>
            <a:ext cx="256946" cy="16825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5895" y="725119"/>
            <a:ext cx="416052" cy="26609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91617" y="725119"/>
            <a:ext cx="6007608" cy="611734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321247" y="811987"/>
            <a:ext cx="5581498" cy="523037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15798" y="848563"/>
            <a:ext cx="43891" cy="35662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69671" y="3067812"/>
            <a:ext cx="11518697" cy="16825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69671" y="3156509"/>
            <a:ext cx="5405018" cy="983894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603797" y="3164738"/>
            <a:ext cx="5501945" cy="983894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183173" y="3221431"/>
            <a:ext cx="416052" cy="460858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91617" y="3502152"/>
            <a:ext cx="1382573" cy="523037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562149" y="3501238"/>
            <a:ext cx="478231" cy="523037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623767" y="3500323"/>
            <a:ext cx="540410" cy="523037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630314" y="3502152"/>
            <a:ext cx="1479499" cy="523037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763049" y="3503066"/>
            <a:ext cx="540410" cy="523037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257300" y="3502152"/>
            <a:ext cx="239573" cy="523037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965960" y="3503066"/>
            <a:ext cx="611734" cy="523037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028493" y="3503981"/>
            <a:ext cx="602590" cy="523037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151376" y="3502152"/>
            <a:ext cx="1613002" cy="523037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394753" y="3502152"/>
            <a:ext cx="239573" cy="523037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697773" y="3501238"/>
            <a:ext cx="478231" cy="523037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291572" y="3502152"/>
            <a:ext cx="1621231" cy="523037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099755" y="3503981"/>
            <a:ext cx="611734" cy="523037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169603" y="3503066"/>
            <a:ext cx="602590" cy="523037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323076" y="3534156"/>
            <a:ext cx="43891" cy="53035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623914" y="4037990"/>
            <a:ext cx="17374" cy="17374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099462" y="5470855"/>
            <a:ext cx="8018374" cy="814730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7782" y="740664"/>
            <a:ext cx="124358" cy="230429"/>
          </a:xfrm>
          <a:prstGeom prst="rect">
            <a:avLst/>
          </a:prstGeom>
        </p:spPr>
      </p:pic>
      <p:pic>
        <p:nvPicPr>
          <p:cNvPr id="73" name="Image 71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63347" y="740664"/>
            <a:ext cx="185623" cy="115214"/>
          </a:xfrm>
          <a:prstGeom prst="rect">
            <a:avLst/>
          </a:prstGeom>
        </p:spPr>
      </p:pic>
      <p:pic>
        <p:nvPicPr>
          <p:cNvPr id="74" name="Image 72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195974" y="742493"/>
            <a:ext cx="124358" cy="230429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366967" y="740664"/>
            <a:ext cx="185623" cy="115214"/>
          </a:xfrm>
          <a:prstGeom prst="rect">
            <a:avLst/>
          </a:prstGeom>
        </p:spPr>
      </p:pic>
      <p:sp>
        <p:nvSpPr>
          <p:cNvPr id="76" name="Shape 0"/>
          <p:cNvSpPr/>
          <p:nvPr/>
        </p:nvSpPr>
        <p:spPr>
          <a:xfrm rot="-6000">
            <a:off x="448056" y="840334"/>
            <a:ext cx="34747" cy="42062"/>
          </a:xfrm>
          <a:prstGeom prst="roundRect">
            <a:avLst/>
          </a:prstGeom>
          <a:solidFill>
            <a:srgbClr val="EDEDED"/>
          </a:solidFill>
          <a:ln/>
        </p:spPr>
      </p:sp>
      <p:sp>
        <p:nvSpPr>
          <p:cNvPr id="77" name="Shape 1"/>
          <p:cNvSpPr/>
          <p:nvPr/>
        </p:nvSpPr>
        <p:spPr>
          <a:xfrm rot="108000">
            <a:off x="6552590" y="840334"/>
            <a:ext cx="34747" cy="42977"/>
          </a:xfrm>
          <a:prstGeom prst="roundRect">
            <a:avLst/>
          </a:prstGeom>
          <a:solidFill>
            <a:srgbClr val="EDEDED"/>
          </a:solidFill>
          <a:ln/>
        </p:spPr>
      </p:sp>
      <p:pic>
        <p:nvPicPr>
          <p:cNvPr id="78" name="Image 74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63347" y="861365"/>
            <a:ext cx="185623" cy="115214"/>
          </a:xfrm>
          <a:prstGeom prst="rect">
            <a:avLst/>
          </a:prstGeom>
        </p:spPr>
      </p:pic>
      <p:pic>
        <p:nvPicPr>
          <p:cNvPr id="79" name="Image 75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6367882" y="862279"/>
            <a:ext cx="185623" cy="115214"/>
          </a:xfrm>
          <a:prstGeom prst="rect">
            <a:avLst/>
          </a:prstGeom>
        </p:spPr>
      </p:pic>
      <p:sp>
        <p:nvSpPr>
          <p:cNvPr id="82" name="Shape 2"/>
          <p:cNvSpPr/>
          <p:nvPr/>
        </p:nvSpPr>
        <p:spPr>
          <a:xfrm rot="-150000">
            <a:off x="6553505" y="3520440"/>
            <a:ext cx="33833" cy="47549"/>
          </a:xfrm>
          <a:prstGeom prst="roundRect">
            <a:avLst/>
          </a:prstGeom>
          <a:solidFill>
            <a:srgbClr val="EDEDED"/>
          </a:solidFill>
          <a:ln/>
        </p:spPr>
      </p:sp>
      <p:sp>
        <p:nvSpPr>
          <p:cNvPr id="83" name="Shape 3"/>
          <p:cNvSpPr/>
          <p:nvPr/>
        </p:nvSpPr>
        <p:spPr>
          <a:xfrm rot="-5436000">
            <a:off x="440741" y="3526841"/>
            <a:ext cx="47549" cy="36576"/>
          </a:xfrm>
          <a:prstGeom prst="ellipse">
            <a:avLst/>
          </a:prstGeom>
          <a:solidFill>
            <a:srgbClr val="EDEDED"/>
          </a:solidFill>
          <a:ln/>
        </p:spPr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0C2D6324-0BC8-8023-AC94-7E15B0B87930}"/>
              </a:ext>
            </a:extLst>
          </p:cNvPr>
          <p:cNvGrpSpPr/>
          <p:nvPr/>
        </p:nvGrpSpPr>
        <p:grpSpPr>
          <a:xfrm>
            <a:off x="6196889" y="3423514"/>
            <a:ext cx="358444" cy="237743"/>
            <a:chOff x="6196889" y="3423514"/>
            <a:chExt cx="358444" cy="237743"/>
          </a:xfrm>
        </p:grpSpPr>
        <p:pic>
          <p:nvPicPr>
            <p:cNvPr id="80" name="Image 76" descr="preencoded.pn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6369710" y="3423514"/>
              <a:ext cx="185623" cy="115214"/>
            </a:xfrm>
            <a:prstGeom prst="rect">
              <a:avLst/>
            </a:prstGeom>
          </p:spPr>
        </p:pic>
        <p:pic>
          <p:nvPicPr>
            <p:cNvPr id="81" name="Image 77" descr="preencoded.pn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6196889" y="3429000"/>
              <a:ext cx="124358" cy="230429"/>
            </a:xfrm>
            <a:prstGeom prst="rect">
              <a:avLst/>
            </a:prstGeom>
          </p:spPr>
        </p:pic>
        <p:pic>
          <p:nvPicPr>
            <p:cNvPr id="84" name="Image 78" descr="preencoded.pn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6369710" y="3546043"/>
              <a:ext cx="185623" cy="115214"/>
            </a:xfrm>
            <a:prstGeom prst="rect">
              <a:avLst/>
            </a:prstGeom>
          </p:spPr>
        </p:pic>
      </p:grpSp>
      <p:pic>
        <p:nvPicPr>
          <p:cNvPr id="86" name="Image 80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136038" y="5507431"/>
            <a:ext cx="7947965" cy="744322"/>
          </a:xfrm>
          <a:prstGeom prst="rect">
            <a:avLst/>
          </a:prstGeom>
        </p:spPr>
      </p:pic>
      <p:sp>
        <p:nvSpPr>
          <p:cNvPr id="87" name="Text 4"/>
          <p:cNvSpPr/>
          <p:nvPr/>
        </p:nvSpPr>
        <p:spPr>
          <a:xfrm>
            <a:off x="249631" y="82296"/>
            <a:ext cx="5179162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“Conventional hour-based O&amp;M" × “Continuous GT operation"</a:t>
            </a:r>
            <a:endParaRPr lang="en-US" sz="1400" dirty="0"/>
          </a:p>
        </p:txBody>
      </p:sp>
      <p:sp>
        <p:nvSpPr>
          <p:cNvPr id="88" name="Text 5"/>
          <p:cNvSpPr/>
          <p:nvPr/>
        </p:nvSpPr>
        <p:spPr>
          <a:xfrm>
            <a:off x="6379769" y="93269"/>
            <a:ext cx="4985309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“Dynamic cycle-sensitive O&amp;M” × “Continuous GT operation"</a:t>
            </a:r>
            <a:endParaRPr lang="en-US" sz="1400" dirty="0"/>
          </a:p>
        </p:txBody>
      </p:sp>
      <p:sp>
        <p:nvSpPr>
          <p:cNvPr id="89" name="Text 6"/>
          <p:cNvSpPr/>
          <p:nvPr/>
        </p:nvSpPr>
        <p:spPr>
          <a:xfrm>
            <a:off x="123444" y="482803"/>
            <a:ext cx="322783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1780" dirty="0"/>
          </a:p>
        </p:txBody>
      </p:sp>
      <p:sp>
        <p:nvSpPr>
          <p:cNvPr id="90" name="Text 7"/>
          <p:cNvSpPr/>
          <p:nvPr/>
        </p:nvSpPr>
        <p:spPr>
          <a:xfrm>
            <a:off x="331013" y="1523390"/>
            <a:ext cx="3712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6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69" dirty="0"/>
          </a:p>
        </p:txBody>
      </p:sp>
      <p:sp>
        <p:nvSpPr>
          <p:cNvPr id="91" name="Text 8"/>
          <p:cNvSpPr/>
          <p:nvPr/>
        </p:nvSpPr>
        <p:spPr>
          <a:xfrm>
            <a:off x="6417259" y="1527048"/>
            <a:ext cx="3401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4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42" dirty="0"/>
          </a:p>
        </p:txBody>
      </p:sp>
      <p:sp>
        <p:nvSpPr>
          <p:cNvPr id="92" name="Text 9"/>
          <p:cNvSpPr/>
          <p:nvPr/>
        </p:nvSpPr>
        <p:spPr>
          <a:xfrm>
            <a:off x="1246327" y="1805026"/>
            <a:ext cx="3414370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≈ Chr × (operating hours)</a:t>
            </a:r>
            <a:endParaRPr lang="en-US" dirty="0"/>
          </a:p>
        </p:txBody>
      </p:sp>
      <p:sp>
        <p:nvSpPr>
          <p:cNvPr id="93" name="Text 10"/>
          <p:cNvSpPr/>
          <p:nvPr/>
        </p:nvSpPr>
        <p:spPr>
          <a:xfrm>
            <a:off x="6725412" y="1816913"/>
            <a:ext cx="4756709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90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≈ Chr × (operating hours) + Ccycle X 1</a:t>
            </a:r>
            <a:endParaRPr lang="en-US" sz="1901" dirty="0"/>
          </a:p>
        </p:txBody>
      </p:sp>
      <p:sp>
        <p:nvSpPr>
          <p:cNvPr id="94" name="Text 11"/>
          <p:cNvSpPr/>
          <p:nvPr/>
        </p:nvSpPr>
        <p:spPr>
          <a:xfrm>
            <a:off x="1986077" y="2240280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explicit cycling burden"</a:t>
            </a:r>
            <a:endParaRPr lang="en-US" sz="1100" dirty="0"/>
          </a:p>
        </p:txBody>
      </p:sp>
      <p:sp>
        <p:nvSpPr>
          <p:cNvPr id="95" name="Text 12"/>
          <p:cNvSpPr/>
          <p:nvPr/>
        </p:nvSpPr>
        <p:spPr>
          <a:xfrm>
            <a:off x="6382512" y="2245766"/>
            <a:ext cx="4972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“Total remains close to conventional when operation is mostly continuous"</a:t>
            </a:r>
            <a:endParaRPr lang="en-US" sz="1100" dirty="0"/>
          </a:p>
        </p:txBody>
      </p:sp>
      <p:sp>
        <p:nvSpPr>
          <p:cNvPr id="96" name="Text 13"/>
          <p:cNvSpPr/>
          <p:nvPr/>
        </p:nvSpPr>
        <p:spPr>
          <a:xfrm>
            <a:off x="232258" y="2758745"/>
            <a:ext cx="51096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"Conventional hour-based O&amp;M" × "Intermittent GT operation"</a:t>
            </a:r>
            <a:endParaRPr lang="en-US" sz="1465" dirty="0"/>
          </a:p>
        </p:txBody>
      </p:sp>
      <p:sp>
        <p:nvSpPr>
          <p:cNvPr id="97" name="Text 14"/>
          <p:cNvSpPr/>
          <p:nvPr/>
        </p:nvSpPr>
        <p:spPr>
          <a:xfrm>
            <a:off x="6380683" y="2760574"/>
            <a:ext cx="492678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4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“Dynamic cycle-sensitive O&amp;M" × "Intermittent GT operation"</a:t>
            </a:r>
            <a:endParaRPr lang="en-US" sz="1441" dirty="0"/>
          </a:p>
        </p:txBody>
      </p:sp>
      <p:sp>
        <p:nvSpPr>
          <p:cNvPr id="99" name="Text 16"/>
          <p:cNvSpPr/>
          <p:nvPr/>
        </p:nvSpPr>
        <p:spPr>
          <a:xfrm>
            <a:off x="6382512" y="4214470"/>
            <a:ext cx="346558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6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68" dirty="0"/>
          </a:p>
        </p:txBody>
      </p:sp>
      <p:sp>
        <p:nvSpPr>
          <p:cNvPr id="100" name="Text 17"/>
          <p:cNvSpPr/>
          <p:nvPr/>
        </p:nvSpPr>
        <p:spPr>
          <a:xfrm>
            <a:off x="7392010" y="4212641"/>
            <a:ext cx="352958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9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93" dirty="0"/>
          </a:p>
        </p:txBody>
      </p:sp>
      <p:sp>
        <p:nvSpPr>
          <p:cNvPr id="101" name="Text 18"/>
          <p:cNvSpPr/>
          <p:nvPr/>
        </p:nvSpPr>
        <p:spPr>
          <a:xfrm>
            <a:off x="8464601" y="4214470"/>
            <a:ext cx="346558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6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68" dirty="0"/>
          </a:p>
        </p:txBody>
      </p:sp>
      <p:sp>
        <p:nvSpPr>
          <p:cNvPr id="102" name="Text 19"/>
          <p:cNvSpPr/>
          <p:nvPr/>
        </p:nvSpPr>
        <p:spPr>
          <a:xfrm>
            <a:off x="9527134" y="4211726"/>
            <a:ext cx="3401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4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42" dirty="0"/>
          </a:p>
        </p:txBody>
      </p:sp>
      <p:sp>
        <p:nvSpPr>
          <p:cNvPr id="103" name="Text 20"/>
          <p:cNvSpPr/>
          <p:nvPr/>
        </p:nvSpPr>
        <p:spPr>
          <a:xfrm>
            <a:off x="10749686" y="4216298"/>
            <a:ext cx="3401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4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42" dirty="0"/>
          </a:p>
        </p:txBody>
      </p:sp>
      <p:sp>
        <p:nvSpPr>
          <p:cNvPr id="104" name="Text 21"/>
          <p:cNvSpPr/>
          <p:nvPr/>
        </p:nvSpPr>
        <p:spPr>
          <a:xfrm>
            <a:off x="1272845" y="4517136"/>
            <a:ext cx="3397910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≈ Chr × (operating hours)</a:t>
            </a:r>
            <a:endParaRPr lang="en-US" dirty="0"/>
          </a:p>
        </p:txBody>
      </p:sp>
      <p:sp>
        <p:nvSpPr>
          <p:cNvPr id="105" name="Text 22"/>
          <p:cNvSpPr/>
          <p:nvPr/>
        </p:nvSpPr>
        <p:spPr>
          <a:xfrm>
            <a:off x="6432804" y="4538167"/>
            <a:ext cx="514898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 ≈ Chr × (operating hours) + Ccycle× Nstart</a:t>
            </a:r>
            <a:endParaRPr lang="en-US" dirty="0"/>
          </a:p>
        </p:txBody>
      </p:sp>
      <p:sp>
        <p:nvSpPr>
          <p:cNvPr id="106" name="Text 23"/>
          <p:cNvSpPr/>
          <p:nvPr/>
        </p:nvSpPr>
        <p:spPr>
          <a:xfrm>
            <a:off x="1858061" y="4948733"/>
            <a:ext cx="2054657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“Frequent starts not penalized"</a:t>
            </a:r>
            <a:endParaRPr lang="en-US" sz="1100" dirty="0"/>
          </a:p>
        </p:txBody>
      </p:sp>
      <p:sp>
        <p:nvSpPr>
          <p:cNvPr id="107" name="Text 24"/>
          <p:cNvSpPr/>
          <p:nvPr/>
        </p:nvSpPr>
        <p:spPr>
          <a:xfrm>
            <a:off x="6612941" y="4945990"/>
            <a:ext cx="438363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“Accumulated cost is higher: repeated starts are explicitly charged"</a:t>
            </a:r>
            <a:endParaRPr lang="en-US" sz="1100" dirty="0"/>
          </a:p>
        </p:txBody>
      </p:sp>
      <p:sp>
        <p:nvSpPr>
          <p:cNvPr id="108" name="Text 25"/>
          <p:cNvSpPr/>
          <p:nvPr/>
        </p:nvSpPr>
        <p:spPr>
          <a:xfrm>
            <a:off x="2352751" y="5609844"/>
            <a:ext cx="5671109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operation: both methods give similar O&amp;M totals</a:t>
            </a:r>
            <a:endParaRPr lang="en-US" sz="1400" dirty="0"/>
          </a:p>
        </p:txBody>
      </p:sp>
      <p:sp>
        <p:nvSpPr>
          <p:cNvPr id="109" name="Text 26"/>
          <p:cNvSpPr/>
          <p:nvPr/>
        </p:nvSpPr>
        <p:spPr>
          <a:xfrm>
            <a:off x="2423160" y="5906110"/>
            <a:ext cx="6353251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Intermittent operation: dynamic allocation penalizes frequent GT cycling</a:t>
            </a:r>
            <a:endParaRPr lang="en-US" sz="1400" dirty="0"/>
          </a:p>
        </p:txBody>
      </p:sp>
      <p:sp>
        <p:nvSpPr>
          <p:cNvPr id="110" name="Text 27"/>
          <p:cNvSpPr/>
          <p:nvPr/>
        </p:nvSpPr>
        <p:spPr>
          <a:xfrm>
            <a:off x="179222" y="6433718"/>
            <a:ext cx="9941357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 of the cycle-sensitive GT O&amp;M allocation used in this study. Compared with a purely hour-based treatment, the dynamic formulation</a:t>
            </a:r>
            <a:endParaRPr lang="en-US" sz="1200" dirty="0"/>
          </a:p>
        </p:txBody>
      </p:sp>
      <p:sp>
        <p:nvSpPr>
          <p:cNvPr id="111" name="Text 28"/>
          <p:cNvSpPr/>
          <p:nvPr/>
        </p:nvSpPr>
        <p:spPr>
          <a:xfrm>
            <a:off x="176478" y="6636714"/>
            <a:ext cx="1079723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assiqns additional burden to frequent start-stop behavior, thereby distinquishing continuous from intermittent GT operation more clearly.</a:t>
            </a:r>
            <a:endParaRPr lang="en-US" sz="1200" dirty="0"/>
          </a:p>
        </p:txBody>
      </p:sp>
      <p:pic>
        <p:nvPicPr>
          <p:cNvPr id="118" name="Image 51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1884" y="3175811"/>
            <a:ext cx="416052" cy="460858"/>
          </a:xfrm>
          <a:prstGeom prst="rect">
            <a:avLst/>
          </a:prstGeom>
        </p:spPr>
      </p:pic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905F0FC5-42CA-86C6-AA66-27FD427BA711}"/>
              </a:ext>
            </a:extLst>
          </p:cNvPr>
          <p:cNvGrpSpPr/>
          <p:nvPr/>
        </p:nvGrpSpPr>
        <p:grpSpPr>
          <a:xfrm>
            <a:off x="100584" y="3372443"/>
            <a:ext cx="390449" cy="237743"/>
            <a:chOff x="6349289" y="3575914"/>
            <a:chExt cx="390449" cy="237743"/>
          </a:xfrm>
        </p:grpSpPr>
        <p:pic>
          <p:nvPicPr>
            <p:cNvPr id="112" name="Image 76" descr="preencoded.pn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6522110" y="3575914"/>
              <a:ext cx="185623" cy="115214"/>
            </a:xfrm>
            <a:prstGeom prst="rect">
              <a:avLst/>
            </a:prstGeom>
          </p:spPr>
        </p:pic>
        <p:pic>
          <p:nvPicPr>
            <p:cNvPr id="113" name="Image 77" descr="preencoded.pn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6349289" y="3581400"/>
              <a:ext cx="124358" cy="230429"/>
            </a:xfrm>
            <a:prstGeom prst="rect">
              <a:avLst/>
            </a:prstGeom>
          </p:spPr>
        </p:pic>
        <p:sp>
          <p:nvSpPr>
            <p:cNvPr id="114" name="Shape 2"/>
            <p:cNvSpPr/>
            <p:nvPr/>
          </p:nvSpPr>
          <p:spPr>
            <a:xfrm rot="21450000">
              <a:off x="6705905" y="3672840"/>
              <a:ext cx="33833" cy="47549"/>
            </a:xfrm>
            <a:prstGeom prst="roundRect">
              <a:avLst/>
            </a:prstGeom>
            <a:solidFill>
              <a:srgbClr val="EDEDED"/>
            </a:solidFill>
            <a:ln/>
          </p:spPr>
        </p:sp>
        <p:pic>
          <p:nvPicPr>
            <p:cNvPr id="115" name="Image 78" descr="preencoded.pn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6522110" y="3698443"/>
              <a:ext cx="185623" cy="1152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208</Words>
  <Application>Microsoft Office PowerPoint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WJ T</cp:lastModifiedBy>
  <cp:revision>3</cp:revision>
  <dcterms:created xsi:type="dcterms:W3CDTF">2026-04-04T14:00:56Z</dcterms:created>
  <dcterms:modified xsi:type="dcterms:W3CDTF">2026-04-05T09:33:51Z</dcterms:modified>
</cp:coreProperties>
</file>